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5" r:id="rId1"/>
  </p:sldMasterIdLst>
  <p:sldIdLst>
    <p:sldId id="270" r:id="rId2"/>
    <p:sldId id="264" r:id="rId3"/>
    <p:sldId id="274" r:id="rId4"/>
    <p:sldId id="275" r:id="rId5"/>
    <p:sldId id="276" r:id="rId6"/>
    <p:sldId id="282" r:id="rId7"/>
    <p:sldId id="281" r:id="rId8"/>
    <p:sldId id="279" r:id="rId9"/>
    <p:sldId id="27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FF"/>
    <a:srgbClr val="922E94"/>
    <a:srgbClr val="FF6600"/>
    <a:srgbClr val="00CC00"/>
    <a:srgbClr val="008000"/>
    <a:srgbClr val="0066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26" autoAdjust="0"/>
    <p:restoredTop sz="94660"/>
  </p:normalViewPr>
  <p:slideViewPr>
    <p:cSldViewPr snapToGrid="0">
      <p:cViewPr varScale="1">
        <p:scale>
          <a:sx n="74" d="100"/>
          <a:sy n="74" d="100"/>
        </p:scale>
        <p:origin x="5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1494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4201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9439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8778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6479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48555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10/1/2022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78414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61BEF0D-F0BB-DE4B-95CE-6DB70DBA9567}" type="datetimeFigureOut">
              <a:rPr lang="en-US" smtClean="0"/>
              <a:pPr/>
              <a:t>10/1/2022</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92425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7054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53125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7812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10/1/2022</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987698"/>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127.0.0.1:5002/" TargetMode="Externa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067775"/>
            <a:ext cx="12192000" cy="4624687"/>
          </a:xfrm>
          <a:prstGeom prst="rect">
            <a:avLst/>
          </a:prstGeom>
        </p:spPr>
      </p:pic>
      <p:sp>
        <p:nvSpPr>
          <p:cNvPr id="5" name="Rectangle 4"/>
          <p:cNvSpPr/>
          <p:nvPr/>
        </p:nvSpPr>
        <p:spPr>
          <a:xfrm>
            <a:off x="8912182" y="1073126"/>
            <a:ext cx="2758002" cy="22388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7030A0"/>
              </a:solidFill>
            </a:endParaRPr>
          </a:p>
        </p:txBody>
      </p:sp>
      <p:sp>
        <p:nvSpPr>
          <p:cNvPr id="6" name="Oval 5"/>
          <p:cNvSpPr/>
          <p:nvPr/>
        </p:nvSpPr>
        <p:spPr>
          <a:xfrm>
            <a:off x="8268983" y="1519271"/>
            <a:ext cx="965169" cy="16875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0" y="238014"/>
            <a:ext cx="12192000" cy="938719"/>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US" sz="2700" b="1" dirty="0" smtClean="0">
                <a:ln/>
                <a:solidFill>
                  <a:schemeClr val="accent1"/>
                </a:solidFill>
                <a:latin typeface="Algerian" panose="04020705040A02060702" pitchFamily="82" charset="0"/>
              </a:rPr>
              <a:t>SENTIMENT ANALYSIS </a:t>
            </a:r>
            <a:r>
              <a:rPr lang="en-US" sz="2700" b="1" dirty="0" smtClean="0">
                <a:ln/>
                <a:solidFill>
                  <a:schemeClr val="accent1"/>
                </a:solidFill>
                <a:latin typeface="Algerian" panose="04020705040A02060702" pitchFamily="82" charset="0"/>
                <a:cs typeface="Arial" panose="020B0604020202020204" pitchFamily="34" charset="0"/>
              </a:rPr>
              <a:t>For Depression Using Machine Learning AND NLP</a:t>
            </a:r>
            <a:endParaRPr lang="en-US" sz="2700" b="1" dirty="0">
              <a:ln/>
              <a:solidFill>
                <a:schemeClr val="accent1"/>
              </a:solidFill>
              <a:latin typeface="Algerian" panose="04020705040A02060702" pitchFamily="82" charset="0"/>
              <a:cs typeface="Arial" panose="020B0604020202020204" pitchFamily="34" charset="0"/>
            </a:endParaRPr>
          </a:p>
          <a:p>
            <a:pPr algn="ctr"/>
            <a:endParaRPr lang="en-IN" sz="2800" b="1" dirty="0">
              <a:ln/>
              <a:solidFill>
                <a:schemeClr val="accent3"/>
              </a:solidFill>
            </a:endParaRPr>
          </a:p>
        </p:txBody>
      </p:sp>
      <p:sp>
        <p:nvSpPr>
          <p:cNvPr id="9" name="Title 1"/>
          <p:cNvSpPr txBox="1">
            <a:spLocks/>
          </p:cNvSpPr>
          <p:nvPr/>
        </p:nvSpPr>
        <p:spPr>
          <a:xfrm>
            <a:off x="6948152" y="1334645"/>
            <a:ext cx="3928057" cy="857899"/>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lnSpc>
                <a:spcPct val="100000"/>
              </a:lnSpc>
            </a:pPr>
            <a:r>
              <a:rPr lang="en-US" sz="2400" b="1" spc="0" dirty="0" smtClean="0">
                <a:ln w="6600">
                  <a:solidFill>
                    <a:schemeClr val="accent2"/>
                  </a:solidFill>
                  <a:prstDash val="solid"/>
                </a:ln>
                <a:solidFill>
                  <a:srgbClr val="FFFFFF"/>
                </a:solidFill>
                <a:effectLst>
                  <a:outerShdw dist="38100" dir="2700000" algn="tl" rotWithShape="0">
                    <a:schemeClr val="accent2"/>
                  </a:outerShdw>
                </a:effectLst>
                <a:latin typeface="Algerian" panose="04020705040A02060702" pitchFamily="82" charset="0"/>
              </a:rPr>
              <a:t/>
            </a:r>
            <a:br>
              <a:rPr lang="en-US" sz="2400" b="1" spc="0" dirty="0" smtClean="0">
                <a:ln w="6600">
                  <a:solidFill>
                    <a:schemeClr val="accent2"/>
                  </a:solidFill>
                  <a:prstDash val="solid"/>
                </a:ln>
                <a:solidFill>
                  <a:srgbClr val="FFFFFF"/>
                </a:solidFill>
                <a:effectLst>
                  <a:outerShdw dist="38100" dir="2700000" algn="tl" rotWithShape="0">
                    <a:schemeClr val="accent2"/>
                  </a:outerShdw>
                </a:effectLst>
                <a:latin typeface="Algerian" panose="04020705040A02060702" pitchFamily="82" charset="0"/>
              </a:rPr>
            </a:br>
            <a:endParaRPr lang="en-US" sz="2400" b="1" spc="0" dirty="0">
              <a:ln w="6600">
                <a:solidFill>
                  <a:schemeClr val="accent2"/>
                </a:solidFill>
                <a:prstDash val="solid"/>
              </a:ln>
              <a:solidFill>
                <a:srgbClr val="FFFFFF"/>
              </a:solidFill>
              <a:effectLst>
                <a:outerShdw dist="38100" dir="2700000" algn="tl" rotWithShape="0">
                  <a:schemeClr val="accent2"/>
                </a:outerShdw>
              </a:effectLst>
              <a:latin typeface="Algerian" panose="04020705040A02060702" pitchFamily="82" charset="0"/>
              <a:cs typeface="Arial" panose="020B0604020202020204" pitchFamily="34" charset="0"/>
            </a:endParaRPr>
          </a:p>
        </p:txBody>
      </p:sp>
      <p:sp>
        <p:nvSpPr>
          <p:cNvPr id="10" name="TextBox 9"/>
          <p:cNvSpPr txBox="1"/>
          <p:nvPr/>
        </p:nvSpPr>
        <p:spPr>
          <a:xfrm>
            <a:off x="8268983" y="1334646"/>
            <a:ext cx="3401201" cy="2031325"/>
          </a:xfrm>
          <a:prstGeom prst="rect">
            <a:avLst/>
          </a:prstGeom>
          <a:noFill/>
        </p:spPr>
        <p:txBody>
          <a:bodyPr wrap="square" rtlCol="0">
            <a:spAutoFit/>
          </a:bodyPr>
          <a:lstStyle/>
          <a:p>
            <a:pPr algn="ctr">
              <a:lnSpc>
                <a:spcPct val="150000"/>
              </a:lnSpc>
            </a:pPr>
            <a:r>
              <a:rPr lang="en" dirty="0">
                <a:solidFill>
                  <a:schemeClr val="bg1"/>
                </a:solidFill>
                <a:latin typeface="Arial"/>
                <a:ea typeface="Arial"/>
                <a:cs typeface="Arial"/>
                <a:sym typeface="Arial"/>
              </a:rPr>
              <a:t>Under the </a:t>
            </a:r>
            <a:r>
              <a:rPr lang="en" dirty="0" smtClean="0">
                <a:solidFill>
                  <a:schemeClr val="bg1"/>
                </a:solidFill>
                <a:latin typeface="Arial"/>
                <a:ea typeface="Arial"/>
                <a:cs typeface="Arial"/>
                <a:sym typeface="Arial"/>
              </a:rPr>
              <a:t>Guidance of:</a:t>
            </a:r>
          </a:p>
          <a:p>
            <a:pPr algn="ctr">
              <a:lnSpc>
                <a:spcPct val="150000"/>
              </a:lnSpc>
            </a:pPr>
            <a:r>
              <a:rPr lang="en" sz="2400" b="1" dirty="0" smtClean="0">
                <a:solidFill>
                  <a:schemeClr val="bg1"/>
                </a:solidFill>
                <a:latin typeface="Arial"/>
                <a:cs typeface="Arial"/>
                <a:sym typeface="Arial"/>
              </a:rPr>
              <a:t>Mrs. Siddhidatri Nayak</a:t>
            </a:r>
          </a:p>
          <a:p>
            <a:pPr algn="ctr">
              <a:lnSpc>
                <a:spcPct val="150000"/>
              </a:lnSpc>
            </a:pPr>
            <a:r>
              <a:rPr lang="en" dirty="0" smtClean="0">
                <a:solidFill>
                  <a:schemeClr val="bg1"/>
                </a:solidFill>
                <a:latin typeface="Arial"/>
                <a:cs typeface="Arial"/>
                <a:sym typeface="Arial"/>
              </a:rPr>
              <a:t>(Project Guide)</a:t>
            </a:r>
            <a:endParaRPr lang="en-IN" dirty="0">
              <a:solidFill>
                <a:schemeClr val="bg1"/>
              </a:solidFill>
            </a:endParaRPr>
          </a:p>
        </p:txBody>
      </p:sp>
      <p:sp>
        <p:nvSpPr>
          <p:cNvPr id="2" name="TextBox 1"/>
          <p:cNvSpPr txBox="1"/>
          <p:nvPr/>
        </p:nvSpPr>
        <p:spPr>
          <a:xfrm>
            <a:off x="246623" y="5774020"/>
            <a:ext cx="11423561"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smtClean="0"/>
              <a:t>Submitted By: 	</a:t>
            </a:r>
            <a:r>
              <a:rPr lang="en-US" dirty="0" smtClean="0"/>
              <a:t>		</a:t>
            </a:r>
            <a:r>
              <a:rPr lang="en-US" sz="2400" b="1" dirty="0" smtClean="0"/>
              <a:t>NIVEDITA A KALEL 						SAFIYA SAYYAD</a:t>
            </a:r>
            <a:r>
              <a:rPr lang="en-US" b="1" dirty="0" smtClean="0"/>
              <a:t>	</a:t>
            </a:r>
            <a:r>
              <a:rPr lang="en-US" dirty="0" smtClean="0"/>
              <a:t>	</a:t>
            </a:r>
            <a:endParaRPr lang="en-IN" dirty="0"/>
          </a:p>
        </p:txBody>
      </p:sp>
      <p:sp>
        <p:nvSpPr>
          <p:cNvPr id="3" name="TextBox 2"/>
          <p:cNvSpPr txBox="1"/>
          <p:nvPr/>
        </p:nvSpPr>
        <p:spPr>
          <a:xfrm>
            <a:off x="246623" y="6413679"/>
            <a:ext cx="9940566" cy="400110"/>
          </a:xfrm>
          <a:prstGeom prst="rect">
            <a:avLst/>
          </a:prstGeom>
          <a:noFill/>
        </p:spPr>
        <p:txBody>
          <a:bodyPr wrap="square" rtlCol="0">
            <a:spAutoFit/>
          </a:bodyPr>
          <a:lstStyle/>
          <a:p>
            <a:r>
              <a:rPr lang="en-US" b="1" dirty="0" smtClean="0">
                <a:solidFill>
                  <a:schemeClr val="bg1"/>
                </a:solidFill>
              </a:rPr>
              <a:t>PRN NO.				       </a:t>
            </a:r>
            <a:r>
              <a:rPr lang="en-US" sz="2000" b="1" smtClean="0">
                <a:solidFill>
                  <a:schemeClr val="bg1"/>
                </a:solidFill>
              </a:rPr>
              <a:t>220320528045</a:t>
            </a:r>
            <a:r>
              <a:rPr lang="en-US" sz="2000" b="1" dirty="0" smtClean="0">
                <a:solidFill>
                  <a:schemeClr val="bg1"/>
                </a:solidFill>
              </a:rPr>
              <a:t>						</a:t>
            </a:r>
            <a:r>
              <a:rPr lang="en-US" sz="2000" b="1" smtClean="0">
                <a:solidFill>
                  <a:schemeClr val="bg1"/>
                </a:solidFill>
              </a:rPr>
              <a:t>	    220320528001</a:t>
            </a:r>
            <a:endParaRPr lang="en-IN" sz="2000" b="1" dirty="0">
              <a:solidFill>
                <a:schemeClr val="bg1"/>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9583" y="4371042"/>
            <a:ext cx="1625393" cy="1219045"/>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21432782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1983" y="630778"/>
            <a:ext cx="4250029" cy="951749"/>
          </a:xfrm>
        </p:spPr>
        <p:txBody>
          <a:bodyPr>
            <a:noAutofit/>
          </a:bodyPr>
          <a:lstStyle/>
          <a:p>
            <a:r>
              <a:rPr lang="en" sz="6600" dirty="0" smtClean="0">
                <a:solidFill>
                  <a:srgbClr val="FF0000"/>
                </a:solidFill>
                <a:latin typeface="Bahnschrift SemiBold Condensed" panose="020B0502040204020203" pitchFamily="34" charset="0"/>
              </a:rPr>
              <a:t> </a:t>
            </a:r>
            <a:r>
              <a:rPr lang="en" sz="4000" dirty="0">
                <a:solidFill>
                  <a:schemeClr val="accent1"/>
                </a:solidFill>
                <a:latin typeface="Bahnschrift SemiBold Condensed" panose="020B0502040204020203" pitchFamily="34" charset="0"/>
                <a:cs typeface="Times New Roman" panose="02020603050405020304" pitchFamily="18" charset="0"/>
              </a:rPr>
              <a:t>Problem</a:t>
            </a:r>
            <a:r>
              <a:rPr lang="en" sz="7200" dirty="0">
                <a:solidFill>
                  <a:schemeClr val="accent1"/>
                </a:solidFill>
                <a:latin typeface="Bahnschrift SemiBold Condensed" panose="020B0502040204020203" pitchFamily="34" charset="0"/>
                <a:cs typeface="Times New Roman" panose="02020603050405020304" pitchFamily="18" charset="0"/>
              </a:rPr>
              <a:t> </a:t>
            </a:r>
            <a:r>
              <a:rPr lang="en" sz="4400" dirty="0">
                <a:solidFill>
                  <a:schemeClr val="accent1"/>
                </a:solidFill>
                <a:latin typeface="Bahnschrift SemiBold Condensed" panose="020B0502040204020203" pitchFamily="34" charset="0"/>
                <a:cs typeface="Times New Roman" panose="02020603050405020304" pitchFamily="18" charset="0"/>
              </a:rPr>
              <a:t>Statement</a:t>
            </a:r>
            <a:endParaRPr lang="en-IN" sz="3600" dirty="0">
              <a:solidFill>
                <a:schemeClr val="accent1"/>
              </a:solidFill>
              <a:latin typeface="Bahnschrift SemiBold Condensed" panose="020B0502040204020203" pitchFamily="34" charset="0"/>
              <a:cs typeface="Times New Roman" panose="02020603050405020304" pitchFamily="18" charset="0"/>
            </a:endParaRPr>
          </a:p>
        </p:txBody>
      </p:sp>
      <p:sp>
        <p:nvSpPr>
          <p:cNvPr id="4" name="Title 1"/>
          <p:cNvSpPr txBox="1">
            <a:spLocks/>
          </p:cNvSpPr>
          <p:nvPr/>
        </p:nvSpPr>
        <p:spPr>
          <a:xfrm>
            <a:off x="1082040" y="3247052"/>
            <a:ext cx="10058400" cy="890716"/>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IN"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553792" y="1738648"/>
            <a:ext cx="11243255" cy="4224269"/>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0" fontAlgn="base">
              <a:lnSpc>
                <a:spcPct val="150000"/>
              </a:lnSpc>
              <a:buFont typeface="Wingdings" panose="05000000000000000000" pitchFamily="2" charset="2"/>
              <a:buChar char="q"/>
            </a:pPr>
            <a:r>
              <a:rPr lang="en-IN" sz="2400" dirty="0" smtClean="0">
                <a:latin typeface="Bahnschrift SemiLight SemiConde" panose="020B0502040204020203" pitchFamily="34" charset="0"/>
                <a:cs typeface="Times New Roman" panose="02020603050405020304" pitchFamily="18" charset="0"/>
              </a:rPr>
              <a:t> Depression is a Medical Condition that affects your mood and ability to function. It has become one of the serious issue across the world.</a:t>
            </a:r>
            <a:endParaRPr lang="en-IN" sz="2400" dirty="0">
              <a:latin typeface="Bahnschrift SemiLight SemiConde" panose="020B0502040204020203" pitchFamily="34" charset="0"/>
              <a:cs typeface="Times New Roman" panose="02020603050405020304" pitchFamily="18" charset="0"/>
            </a:endParaRPr>
          </a:p>
          <a:p>
            <a:pPr fontAlgn="base">
              <a:lnSpc>
                <a:spcPct val="150000"/>
              </a:lnSpc>
              <a:buFont typeface="Wingdings" panose="05000000000000000000" pitchFamily="2" charset="2"/>
              <a:buChar char="q"/>
            </a:pPr>
            <a:r>
              <a:rPr lang="en-US" sz="2400" dirty="0" smtClean="0">
                <a:latin typeface="Bahnschrift SemiLight SemiConde" panose="020B0502040204020203" pitchFamily="34" charset="0"/>
                <a:cs typeface="Times New Roman" panose="02020603050405020304" pitchFamily="18" charset="0"/>
              </a:rPr>
              <a:t>Detecting </a:t>
            </a:r>
            <a:r>
              <a:rPr lang="en-US" sz="2400" dirty="0">
                <a:latin typeface="Bahnschrift SemiLight SemiConde" panose="020B0502040204020203" pitchFamily="34" charset="0"/>
                <a:cs typeface="Times New Roman" panose="02020603050405020304" pitchFamily="18" charset="0"/>
              </a:rPr>
              <a:t>earlier depression can be a huge step to address the mental illness and offer support to the people suffering from this terrible mental illness</a:t>
            </a:r>
            <a:r>
              <a:rPr lang="en-US" sz="2400" dirty="0" smtClean="0">
                <a:latin typeface="Bahnschrift SemiLight SemiConde" panose="020B0502040204020203" pitchFamily="34" charset="0"/>
                <a:cs typeface="Times New Roman" panose="02020603050405020304" pitchFamily="18" charset="0"/>
              </a:rPr>
              <a:t>.</a:t>
            </a:r>
          </a:p>
          <a:p>
            <a:pPr fontAlgn="base">
              <a:lnSpc>
                <a:spcPct val="150000"/>
              </a:lnSpc>
              <a:buFont typeface="Wingdings" panose="05000000000000000000" pitchFamily="2" charset="2"/>
              <a:buChar char="q"/>
            </a:pPr>
            <a:r>
              <a:rPr lang="en-US" sz="2400" dirty="0" smtClean="0">
                <a:latin typeface="Bahnschrift SemiLight SemiConde" panose="020B0502040204020203" pitchFamily="34" charset="0"/>
                <a:cs typeface="Times New Roman" panose="02020603050405020304" pitchFamily="18" charset="0"/>
              </a:rPr>
              <a:t>Depression can worsen and potentially become fatal if left untreated.</a:t>
            </a:r>
            <a:endParaRPr lang="en-US" sz="2400" dirty="0">
              <a:latin typeface="Bahnschrift SemiLight SemiConde" panose="020B0502040204020203" pitchFamily="34" charset="0"/>
              <a:cs typeface="Times New Roman" panose="02020603050405020304" pitchFamily="18" charset="0"/>
            </a:endParaRPr>
          </a:p>
          <a:p>
            <a:pPr>
              <a:lnSpc>
                <a:spcPct val="170000"/>
              </a:lnSpc>
            </a:pPr>
            <a:endParaRPr lang="en-IN" dirty="0"/>
          </a:p>
        </p:txBody>
      </p:sp>
      <p:pic>
        <p:nvPicPr>
          <p:cNvPr id="2050" name="Picture 2" descr="Comprehensive Hands on Guide to Twitter Sentiment Analysis with dataset &amp;  c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9945" y="241619"/>
            <a:ext cx="3207357" cy="1485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06181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3945" y="643657"/>
            <a:ext cx="3644292" cy="951749"/>
          </a:xfrm>
        </p:spPr>
        <p:txBody>
          <a:bodyPr>
            <a:noAutofit/>
          </a:bodyPr>
          <a:lstStyle/>
          <a:p>
            <a:r>
              <a:rPr lang="en" sz="6600" dirty="0">
                <a:solidFill>
                  <a:schemeClr val="accent1"/>
                </a:solidFill>
                <a:latin typeface="Bahnschrift SemiBold Condensed" panose="020B0502040204020203" pitchFamily="34" charset="0"/>
                <a:cs typeface="Times New Roman" panose="02020603050405020304" pitchFamily="18" charset="0"/>
              </a:rPr>
              <a:t>Solution</a:t>
            </a:r>
            <a:endParaRPr lang="en-IN" sz="6600" dirty="0">
              <a:solidFill>
                <a:schemeClr val="accent1"/>
              </a:solidFill>
              <a:latin typeface="Bahnschrift SemiBold Condensed" panose="020B0502040204020203" pitchFamily="34" charset="0"/>
              <a:cs typeface="Times New Roman" panose="02020603050405020304" pitchFamily="18" charset="0"/>
            </a:endParaRPr>
          </a:p>
        </p:txBody>
      </p:sp>
      <p:sp>
        <p:nvSpPr>
          <p:cNvPr id="4" name="Title 1"/>
          <p:cNvSpPr txBox="1">
            <a:spLocks/>
          </p:cNvSpPr>
          <p:nvPr/>
        </p:nvSpPr>
        <p:spPr>
          <a:xfrm>
            <a:off x="1082040" y="3247052"/>
            <a:ext cx="10058400" cy="890716"/>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IN"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12986" y="4767325"/>
            <a:ext cx="1081611" cy="2090675"/>
          </a:xfrm>
          <a:prstGeom prst="rect">
            <a:avLst/>
          </a:prstGeom>
        </p:spPr>
      </p:pic>
      <p:sp>
        <p:nvSpPr>
          <p:cNvPr id="5" name="Content Placeholder 2"/>
          <p:cNvSpPr txBox="1">
            <a:spLocks/>
          </p:cNvSpPr>
          <p:nvPr/>
        </p:nvSpPr>
        <p:spPr>
          <a:xfrm>
            <a:off x="553792" y="1738648"/>
            <a:ext cx="11243255" cy="4224269"/>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0" indent="-457200" fontAlgn="base">
              <a:lnSpc>
                <a:spcPct val="150000"/>
              </a:lnSpc>
              <a:buFont typeface="+mj-lt"/>
              <a:buAutoNum type="arabicPeriod"/>
            </a:pPr>
            <a:r>
              <a:rPr lang="en-US" sz="2400" dirty="0">
                <a:latin typeface="Bahnschrift SemiLight SemiConde" panose="020B0502040204020203" pitchFamily="34" charset="0"/>
                <a:cs typeface="Times New Roman" panose="02020603050405020304" pitchFamily="18" charset="0"/>
              </a:rPr>
              <a:t>We need to classify the depressed and non depressed people, to classify these categories we need to collect the text data from social media and apply some machine learning algorithms for classification and predict the depression.</a:t>
            </a:r>
          </a:p>
          <a:p>
            <a:pPr marL="457200" lvl="0" indent="-457200" fontAlgn="base">
              <a:lnSpc>
                <a:spcPct val="150000"/>
              </a:lnSpc>
              <a:buFont typeface="+mj-lt"/>
              <a:buAutoNum type="arabicPeriod"/>
            </a:pPr>
            <a:r>
              <a:rPr lang="en-US" sz="2400" dirty="0">
                <a:latin typeface="Bahnschrift SemiLight SemiConde" panose="020B0502040204020203" pitchFamily="34" charset="0"/>
                <a:cs typeface="Times New Roman" panose="02020603050405020304" pitchFamily="18" charset="0"/>
              </a:rPr>
              <a:t>We have got the twitter dataset for prediction of the depression among social media users. The level of depression is classified by the negative sentiment of the user</a:t>
            </a:r>
          </a:p>
          <a:p>
            <a:pPr marL="457200" lvl="0" indent="-457200" fontAlgn="base">
              <a:lnSpc>
                <a:spcPct val="100000"/>
              </a:lnSpc>
              <a:buFont typeface="+mj-lt"/>
              <a:buAutoNum type="arabicPeriod"/>
            </a:pPr>
            <a:endParaRPr lang="en-IN" dirty="0"/>
          </a:p>
        </p:txBody>
      </p:sp>
      <p:pic>
        <p:nvPicPr>
          <p:cNvPr id="12" name="Picture 11"/>
          <p:cNvPicPr>
            <a:picLocks noChangeAspect="1"/>
          </p:cNvPicPr>
          <p:nvPr/>
        </p:nvPicPr>
        <p:blipFill>
          <a:blip r:embed="rId3"/>
          <a:stretch>
            <a:fillRect/>
          </a:stretch>
        </p:blipFill>
        <p:spPr>
          <a:xfrm>
            <a:off x="10659683" y="77272"/>
            <a:ext cx="1065622" cy="1912985"/>
          </a:xfrm>
          <a:prstGeom prst="rect">
            <a:avLst/>
          </a:prstGeom>
        </p:spPr>
      </p:pic>
    </p:spTree>
    <p:extLst>
      <p:ext uri="{BB962C8B-B14F-4D97-AF65-F5344CB8AC3E}">
        <p14:creationId xmlns:p14="http://schemas.microsoft.com/office/powerpoint/2010/main" val="31362910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7719" y="753776"/>
            <a:ext cx="5498849" cy="668127"/>
          </a:xfrm>
        </p:spPr>
        <p:txBody>
          <a:bodyPr>
            <a:noAutofit/>
          </a:bodyPr>
          <a:lstStyle/>
          <a:p>
            <a:r>
              <a:rPr lang="en" sz="5400" dirty="0" smtClean="0">
                <a:solidFill>
                  <a:schemeClr val="accent1"/>
                </a:solidFill>
                <a:latin typeface="Bahnschrift SemiBold Condensed" panose="020B0502040204020203" pitchFamily="34" charset="0"/>
                <a:cs typeface="Times New Roman" panose="02020603050405020304" pitchFamily="18" charset="0"/>
              </a:rPr>
              <a:t>Working </a:t>
            </a:r>
            <a:r>
              <a:rPr lang="en" sz="5400" dirty="0">
                <a:solidFill>
                  <a:schemeClr val="accent1"/>
                </a:solidFill>
                <a:latin typeface="Bahnschrift SemiBold Condensed" panose="020B0502040204020203" pitchFamily="34" charset="0"/>
                <a:cs typeface="Times New Roman" panose="02020603050405020304" pitchFamily="18" charset="0"/>
              </a:rPr>
              <a:t>Methodology</a:t>
            </a:r>
            <a:endParaRPr lang="en-IN" sz="5400" dirty="0">
              <a:solidFill>
                <a:schemeClr val="accent1"/>
              </a:solidFill>
              <a:latin typeface="Bahnschrift SemiBold Condensed" panose="020B0502040204020203" pitchFamily="34" charset="0"/>
              <a:cs typeface="Times New Roman" panose="02020603050405020304" pitchFamily="18" charset="0"/>
            </a:endParaRPr>
          </a:p>
        </p:txBody>
      </p:sp>
      <p:sp>
        <p:nvSpPr>
          <p:cNvPr id="4" name="Title 1"/>
          <p:cNvSpPr txBox="1">
            <a:spLocks/>
          </p:cNvSpPr>
          <p:nvPr/>
        </p:nvSpPr>
        <p:spPr>
          <a:xfrm>
            <a:off x="1082040" y="3247052"/>
            <a:ext cx="10058400" cy="890716"/>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IN"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553792" y="1970470"/>
            <a:ext cx="11243255" cy="4224269"/>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fontAlgn="base">
              <a:lnSpc>
                <a:spcPct val="150000"/>
              </a:lnSpc>
              <a:buFont typeface="+mj-lt"/>
              <a:buAutoNum type="arabicPeriod"/>
            </a:pPr>
            <a:r>
              <a:rPr lang="en-IN" sz="2400" dirty="0">
                <a:latin typeface="Bahnschrift SemiLight SemiConde" panose="020B0502040204020203" pitchFamily="34" charset="0"/>
                <a:cs typeface="Times New Roman" panose="02020603050405020304" pitchFamily="18" charset="0"/>
              </a:rPr>
              <a:t>DATA COLLECTION</a:t>
            </a:r>
          </a:p>
          <a:p>
            <a:pPr marL="457200" indent="-457200" fontAlgn="base">
              <a:lnSpc>
                <a:spcPct val="150000"/>
              </a:lnSpc>
              <a:buFont typeface="+mj-lt"/>
              <a:buAutoNum type="arabicPeriod"/>
            </a:pPr>
            <a:r>
              <a:rPr lang="en-IN" sz="2400" dirty="0">
                <a:latin typeface="Bahnschrift SemiLight SemiConde" panose="020B0502040204020203" pitchFamily="34" charset="0"/>
                <a:cs typeface="Times New Roman" panose="02020603050405020304" pitchFamily="18" charset="0"/>
              </a:rPr>
              <a:t>PRE-PROCESSING</a:t>
            </a:r>
          </a:p>
          <a:p>
            <a:pPr marL="457200" indent="-457200" fontAlgn="base">
              <a:lnSpc>
                <a:spcPct val="150000"/>
              </a:lnSpc>
              <a:buFont typeface="+mj-lt"/>
              <a:buAutoNum type="arabicPeriod"/>
            </a:pPr>
            <a:r>
              <a:rPr lang="en-IN" sz="2400" dirty="0" smtClean="0">
                <a:latin typeface="Bahnschrift SemiLight SemiConde" panose="020B0502040204020203" pitchFamily="34" charset="0"/>
                <a:cs typeface="Times New Roman" panose="02020603050405020304" pitchFamily="18" charset="0"/>
              </a:rPr>
              <a:t>FEATURE EXTRACTION</a:t>
            </a:r>
          </a:p>
          <a:p>
            <a:pPr marL="457200" indent="-457200" fontAlgn="base">
              <a:lnSpc>
                <a:spcPct val="150000"/>
              </a:lnSpc>
              <a:buFont typeface="+mj-lt"/>
              <a:buAutoNum type="arabicPeriod"/>
            </a:pPr>
            <a:r>
              <a:rPr lang="en-IN" sz="2400" dirty="0" smtClean="0">
                <a:latin typeface="Bahnschrift SemiLight SemiConde" panose="020B0502040204020203" pitchFamily="34" charset="0"/>
                <a:cs typeface="Times New Roman" panose="02020603050405020304" pitchFamily="18" charset="0"/>
              </a:rPr>
              <a:t>USE OF </a:t>
            </a:r>
            <a:r>
              <a:rPr lang="en-IN" sz="2400" dirty="0">
                <a:latin typeface="Bahnschrift SemiLight SemiConde" panose="020B0502040204020203" pitchFamily="34" charset="0"/>
                <a:cs typeface="Times New Roman" panose="02020603050405020304" pitchFamily="18" charset="0"/>
              </a:rPr>
              <a:t>MACHINE LEARNING ALGORITHMS</a:t>
            </a:r>
          </a:p>
          <a:p>
            <a:pPr marL="457200" indent="-457200" fontAlgn="base">
              <a:lnSpc>
                <a:spcPct val="150000"/>
              </a:lnSpc>
              <a:buFont typeface="+mj-lt"/>
              <a:buAutoNum type="arabicPeriod"/>
            </a:pPr>
            <a:r>
              <a:rPr lang="en-IN" sz="2400" dirty="0">
                <a:latin typeface="Bahnschrift SemiLight SemiConde" panose="020B0502040204020203" pitchFamily="34" charset="0"/>
                <a:cs typeface="Times New Roman" panose="02020603050405020304" pitchFamily="18" charset="0"/>
              </a:rPr>
              <a:t>GRAPHICAL VISUALIZATION </a:t>
            </a:r>
          </a:p>
        </p:txBody>
      </p:sp>
    </p:spTree>
    <p:extLst>
      <p:ext uri="{BB962C8B-B14F-4D97-AF65-F5344CB8AC3E}">
        <p14:creationId xmlns:p14="http://schemas.microsoft.com/office/powerpoint/2010/main" val="9286459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3273" y="630777"/>
            <a:ext cx="3644292" cy="951749"/>
          </a:xfrm>
        </p:spPr>
        <p:txBody>
          <a:bodyPr>
            <a:noAutofit/>
          </a:bodyPr>
          <a:lstStyle/>
          <a:p>
            <a:pPr algn="ctr"/>
            <a:r>
              <a:rPr lang="en" sz="6600" dirty="0" smtClean="0">
                <a:solidFill>
                  <a:schemeClr val="accent1"/>
                </a:solidFill>
                <a:latin typeface="Bahnschrift SemiBold Condensed" panose="020B0502040204020203" pitchFamily="34" charset="0"/>
                <a:cs typeface="Times New Roman" panose="02020603050405020304" pitchFamily="18" charset="0"/>
              </a:rPr>
              <a:t>Results</a:t>
            </a:r>
            <a:endParaRPr lang="en-IN" sz="6600" dirty="0">
              <a:solidFill>
                <a:schemeClr val="accent1"/>
              </a:solidFill>
              <a:latin typeface="Bahnschrift SemiBold Condensed" panose="020B0502040204020203" pitchFamily="34" charset="0"/>
              <a:cs typeface="Times New Roman" panose="02020603050405020304" pitchFamily="18" charset="0"/>
            </a:endParaRPr>
          </a:p>
        </p:txBody>
      </p:sp>
      <p:sp>
        <p:nvSpPr>
          <p:cNvPr id="5" name="Content Placeholder 2"/>
          <p:cNvSpPr txBox="1">
            <a:spLocks/>
          </p:cNvSpPr>
          <p:nvPr/>
        </p:nvSpPr>
        <p:spPr>
          <a:xfrm>
            <a:off x="553792" y="1725769"/>
            <a:ext cx="11243255" cy="4224269"/>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algn="ctr" fontAlgn="base">
              <a:lnSpc>
                <a:spcPct val="100000"/>
              </a:lnSpc>
              <a:buNone/>
            </a:pPr>
            <a:r>
              <a:rPr lang="en" sz="2400" dirty="0" smtClean="0">
                <a:latin typeface="Bahnschrift SemiLight SemiConde" panose="020B0502040204020203" pitchFamily="34" charset="0"/>
                <a:cs typeface="Times New Roman" panose="02020603050405020304" pitchFamily="18" charset="0"/>
                <a:sym typeface="Times New Roman"/>
              </a:rPr>
              <a:t>This is </a:t>
            </a:r>
            <a:r>
              <a:rPr lang="en" sz="2400" dirty="0">
                <a:latin typeface="Bahnschrift SemiLight SemiConde" panose="020B0502040204020203" pitchFamily="34" charset="0"/>
                <a:cs typeface="Times New Roman" panose="02020603050405020304" pitchFamily="18" charset="0"/>
                <a:sym typeface="Times New Roman"/>
              </a:rPr>
              <a:t>the result table that shows the </a:t>
            </a:r>
            <a:r>
              <a:rPr lang="en" sz="2400" dirty="0" smtClean="0">
                <a:latin typeface="Bahnschrift SemiLight SemiConde" panose="020B0502040204020203" pitchFamily="34" charset="0"/>
                <a:cs typeface="Times New Roman" panose="02020603050405020304" pitchFamily="18" charset="0"/>
                <a:sym typeface="Times New Roman"/>
              </a:rPr>
              <a:t>comparison of different algorithms which are </a:t>
            </a:r>
            <a:r>
              <a:rPr lang="en" sz="2400" dirty="0">
                <a:latin typeface="Bahnschrift SemiLight SemiConde" panose="020B0502040204020203" pitchFamily="34" charset="0"/>
                <a:cs typeface="Times New Roman" panose="02020603050405020304" pitchFamily="18" charset="0"/>
                <a:sym typeface="Times New Roman"/>
              </a:rPr>
              <a:t>used </a:t>
            </a:r>
            <a:r>
              <a:rPr lang="en" sz="2400" dirty="0" smtClean="0">
                <a:latin typeface="Bahnschrift SemiLight SemiConde" panose="020B0502040204020203" pitchFamily="34" charset="0"/>
                <a:cs typeface="Times New Roman" panose="02020603050405020304" pitchFamily="18" charset="0"/>
                <a:sym typeface="Times New Roman"/>
              </a:rPr>
              <a:t>for classification of sentiments</a:t>
            </a:r>
            <a:r>
              <a:rPr lang="en-US" sz="2400" dirty="0" smtClean="0">
                <a:latin typeface="Bahnschrift SemiLight SemiConde" panose="020B0502040204020203" pitchFamily="34" charset="0"/>
                <a:cs typeface="Times New Roman" panose="02020603050405020304" pitchFamily="18" charset="0"/>
              </a:rPr>
              <a:t>.</a:t>
            </a:r>
            <a:endParaRPr lang="en-US" sz="2400" dirty="0">
              <a:latin typeface="Bahnschrift SemiLight SemiConde" panose="020B0502040204020203" pitchFamily="34"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456667518"/>
              </p:ext>
            </p:extLst>
          </p:nvPr>
        </p:nvGraphicFramePr>
        <p:xfrm>
          <a:off x="2549835" y="2699787"/>
          <a:ext cx="7019165" cy="3250251"/>
        </p:xfrm>
        <a:graphic>
          <a:graphicData uri="http://schemas.openxmlformats.org/drawingml/2006/table">
            <a:tbl>
              <a:tblPr firstRow="1" firstCol="1" bandRow="1">
                <a:tableStyleId>{21E4AEA4-8DFA-4A89-87EB-49C32662AFE0}</a:tableStyleId>
              </a:tblPr>
              <a:tblGrid>
                <a:gridCol w="2436705"/>
                <a:gridCol w="2261474"/>
                <a:gridCol w="2320986"/>
              </a:tblGrid>
              <a:tr h="530772">
                <a:tc>
                  <a:txBody>
                    <a:bodyPr/>
                    <a:lstStyle/>
                    <a:p>
                      <a:pPr marL="0" marR="0" algn="ctr">
                        <a:spcBef>
                          <a:spcPts val="645"/>
                        </a:spcBef>
                        <a:spcAft>
                          <a:spcPts val="0"/>
                        </a:spcAft>
                      </a:pPr>
                      <a:r>
                        <a:rPr lang="en-US" sz="2000" kern="0" dirty="0">
                          <a:effectLst/>
                        </a:rPr>
                        <a:t>Classifier</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45"/>
                        </a:spcBef>
                        <a:spcAft>
                          <a:spcPts val="0"/>
                        </a:spcAft>
                      </a:pPr>
                      <a:r>
                        <a:rPr lang="en-US" sz="2000" kern="0" dirty="0">
                          <a:effectLst/>
                        </a:rPr>
                        <a:t>Training accuracy</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45"/>
                        </a:spcBef>
                        <a:spcAft>
                          <a:spcPts val="0"/>
                        </a:spcAft>
                      </a:pPr>
                      <a:r>
                        <a:rPr lang="en-US" sz="2000" kern="0" dirty="0">
                          <a:effectLst/>
                        </a:rPr>
                        <a:t>Testing </a:t>
                      </a:r>
                      <a:r>
                        <a:rPr lang="en-US" sz="2000" kern="0" dirty="0" smtClean="0">
                          <a:effectLst/>
                        </a:rPr>
                        <a:t>Accuracy</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7649">
                <a:tc>
                  <a:txBody>
                    <a:bodyPr/>
                    <a:lstStyle/>
                    <a:p>
                      <a:pPr marL="0" marR="0" algn="ctr">
                        <a:spcBef>
                          <a:spcPts val="645"/>
                        </a:spcBef>
                        <a:spcAft>
                          <a:spcPts val="0"/>
                        </a:spcAft>
                      </a:pPr>
                      <a:r>
                        <a:rPr lang="en-US" sz="1600" kern="0" dirty="0">
                          <a:effectLst/>
                        </a:rPr>
                        <a:t>Logistic Regression</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45"/>
                        </a:spcBef>
                        <a:spcAft>
                          <a:spcPts val="0"/>
                        </a:spcAft>
                      </a:pPr>
                      <a:r>
                        <a:rPr lang="en-US" sz="1600" kern="0" dirty="0" smtClean="0">
                          <a:effectLst/>
                        </a:rPr>
                        <a:t>86.09</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45"/>
                        </a:spcBef>
                        <a:spcAft>
                          <a:spcPts val="0"/>
                        </a:spcAft>
                      </a:pPr>
                      <a:r>
                        <a:rPr lang="en-US" sz="1600" kern="0" dirty="0" smtClean="0">
                          <a:effectLst/>
                        </a:rPr>
                        <a:t>73.49</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7649">
                <a:tc>
                  <a:txBody>
                    <a:bodyPr/>
                    <a:lstStyle/>
                    <a:p>
                      <a:pPr marL="0" marR="0" algn="ctr">
                        <a:spcBef>
                          <a:spcPts val="645"/>
                        </a:spcBef>
                        <a:spcAft>
                          <a:spcPts val="0"/>
                        </a:spcAft>
                      </a:pPr>
                      <a:r>
                        <a:rPr lang="en-US" sz="1600" kern="0">
                          <a:effectLst/>
                        </a:rPr>
                        <a:t>XG Boost Classifier</a:t>
                      </a:r>
                      <a:endParaRPr lang="en-US" sz="1100" b="1" kern="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45"/>
                        </a:spcBef>
                        <a:spcAft>
                          <a:spcPts val="0"/>
                        </a:spcAft>
                      </a:pPr>
                      <a:r>
                        <a:rPr lang="en-US" sz="1600" kern="0" dirty="0" smtClean="0">
                          <a:effectLst/>
                        </a:rPr>
                        <a:t>77.59</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45"/>
                        </a:spcBef>
                        <a:spcAft>
                          <a:spcPts val="0"/>
                        </a:spcAft>
                      </a:pPr>
                      <a:r>
                        <a:rPr lang="en-US" sz="1600" kern="0" dirty="0" smtClean="0">
                          <a:effectLst/>
                        </a:rPr>
                        <a:t>73.52</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7649">
                <a:tc>
                  <a:txBody>
                    <a:bodyPr/>
                    <a:lstStyle/>
                    <a:p>
                      <a:pPr marL="0" marR="0" algn="ctr">
                        <a:spcBef>
                          <a:spcPts val="645"/>
                        </a:spcBef>
                        <a:spcAft>
                          <a:spcPts val="0"/>
                        </a:spcAft>
                      </a:pPr>
                      <a:r>
                        <a:rPr lang="en-US" sz="1600" kern="0">
                          <a:effectLst/>
                        </a:rPr>
                        <a:t>Support Vector machine</a:t>
                      </a:r>
                      <a:endParaRPr lang="en-US" sz="1100" b="1" kern="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45"/>
                        </a:spcBef>
                        <a:spcAft>
                          <a:spcPts val="0"/>
                        </a:spcAft>
                      </a:pPr>
                      <a:r>
                        <a:rPr lang="en-US" sz="1600" kern="0" dirty="0" smtClean="0">
                          <a:effectLst/>
                        </a:rPr>
                        <a:t>90.83</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45"/>
                        </a:spcBef>
                        <a:spcAft>
                          <a:spcPts val="0"/>
                        </a:spcAft>
                      </a:pPr>
                      <a:r>
                        <a:rPr lang="en-US" sz="1600" kern="0" dirty="0" smtClean="0">
                          <a:effectLst/>
                        </a:rPr>
                        <a:t>73.94</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3266">
                <a:tc>
                  <a:txBody>
                    <a:bodyPr/>
                    <a:lstStyle/>
                    <a:p>
                      <a:pPr marL="0" marR="0" algn="ctr">
                        <a:spcBef>
                          <a:spcPts val="645"/>
                        </a:spcBef>
                        <a:spcAft>
                          <a:spcPts val="0"/>
                        </a:spcAft>
                      </a:pPr>
                      <a:r>
                        <a:rPr lang="en-US" sz="1600" kern="0">
                          <a:effectLst/>
                        </a:rPr>
                        <a:t>Random Forest Classifier</a:t>
                      </a:r>
                      <a:endParaRPr lang="en-US" sz="1100" b="1" kern="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spcBef>
                          <a:spcPts val="645"/>
                        </a:spcBef>
                        <a:spcAft>
                          <a:spcPts val="0"/>
                        </a:spcAft>
                      </a:pPr>
                      <a:r>
                        <a:rPr lang="en-US" sz="1600" kern="0" dirty="0" smtClean="0">
                          <a:solidFill>
                            <a:schemeClr val="dk1"/>
                          </a:solidFill>
                          <a:effectLst/>
                          <a:latin typeface="+mn-lt"/>
                          <a:ea typeface="+mn-ea"/>
                          <a:cs typeface="+mn-cs"/>
                        </a:rPr>
                        <a:t>99.26</a:t>
                      </a:r>
                      <a:endParaRPr lang="en-US" sz="1600" kern="0" dirty="0">
                        <a:solidFill>
                          <a:schemeClr val="dk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spcBef>
                          <a:spcPts val="645"/>
                        </a:spcBef>
                        <a:spcAft>
                          <a:spcPts val="0"/>
                        </a:spcAft>
                      </a:pPr>
                      <a:r>
                        <a:rPr lang="en-US" sz="1600" kern="0" dirty="0" smtClean="0">
                          <a:solidFill>
                            <a:schemeClr val="dk1"/>
                          </a:solidFill>
                          <a:effectLst/>
                          <a:latin typeface="+mn-lt"/>
                          <a:ea typeface="+mn-ea"/>
                          <a:cs typeface="+mn-cs"/>
                        </a:rPr>
                        <a:t>71.56</a:t>
                      </a:r>
                      <a:endParaRPr lang="en-US" sz="1600" kern="0" dirty="0">
                        <a:solidFill>
                          <a:schemeClr val="dk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3266">
                <a:tc>
                  <a:txBody>
                    <a:bodyPr/>
                    <a:lstStyle/>
                    <a:p>
                      <a:pPr marL="0" marR="0" algn="ctr">
                        <a:spcBef>
                          <a:spcPts val="645"/>
                        </a:spcBef>
                        <a:spcAft>
                          <a:spcPts val="0"/>
                        </a:spcAft>
                      </a:pPr>
                      <a:r>
                        <a:rPr lang="en-US" sz="1600" kern="0">
                          <a:effectLst/>
                        </a:rPr>
                        <a:t>Decision Tree</a:t>
                      </a:r>
                      <a:endParaRPr lang="en-US" sz="1100" b="1" kern="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45"/>
                        </a:spcBef>
                        <a:spcAft>
                          <a:spcPts val="0"/>
                        </a:spcAft>
                      </a:pPr>
                      <a:r>
                        <a:rPr lang="en-US" sz="1600" kern="0" dirty="0" smtClean="0">
                          <a:effectLst/>
                        </a:rPr>
                        <a:t>99.26</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45"/>
                        </a:spcBef>
                        <a:spcAft>
                          <a:spcPts val="0"/>
                        </a:spcAft>
                      </a:pPr>
                      <a:r>
                        <a:rPr lang="en-US" sz="1600" kern="0" dirty="0" smtClean="0">
                          <a:effectLst/>
                        </a:rPr>
                        <a:t>67.75</a:t>
                      </a:r>
                      <a:endParaRPr lang="en-US" sz="1100" b="1" kern="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3381370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68203" y="1612903"/>
            <a:ext cx="4675031" cy="4489021"/>
          </a:xfrm>
          <a:prstGeom prst="rect">
            <a:avLst/>
          </a:prstGeom>
        </p:spPr>
      </p:pic>
      <p:sp>
        <p:nvSpPr>
          <p:cNvPr id="6" name="Title 1"/>
          <p:cNvSpPr>
            <a:spLocks noGrp="1"/>
          </p:cNvSpPr>
          <p:nvPr>
            <p:ph type="title"/>
          </p:nvPr>
        </p:nvSpPr>
        <p:spPr>
          <a:xfrm>
            <a:off x="3077422" y="342213"/>
            <a:ext cx="5268088" cy="951749"/>
          </a:xfrm>
        </p:spPr>
        <p:txBody>
          <a:bodyPr>
            <a:noAutofit/>
          </a:bodyPr>
          <a:lstStyle/>
          <a:p>
            <a:pPr algn="ctr"/>
            <a:r>
              <a:rPr lang="en" sz="6600" dirty="0" smtClean="0">
                <a:solidFill>
                  <a:schemeClr val="accent1"/>
                </a:solidFill>
                <a:latin typeface="Bahnschrift SemiBold Condensed" panose="020B0502040204020203" pitchFamily="34" charset="0"/>
                <a:cs typeface="Times New Roman" panose="02020603050405020304" pitchFamily="18" charset="0"/>
              </a:rPr>
              <a:t>Confusion Matrix</a:t>
            </a:r>
            <a:endParaRPr lang="en-IN" sz="6600" dirty="0">
              <a:solidFill>
                <a:schemeClr val="accent1"/>
              </a:solidFill>
              <a:latin typeface="Bahnschrift SemiBold Condensed"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21305644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dirty="0" smtClean="0">
                <a:solidFill>
                  <a:srgbClr val="922E94"/>
                </a:solidFill>
                <a:latin typeface="Bahnschrift Condensed" panose="020B0502040204020203" pitchFamily="34" charset="0"/>
              </a:rPr>
              <a:t>Sentiment Analysis Webpage</a:t>
            </a:r>
            <a:endParaRPr lang="en-US" sz="6600" dirty="0">
              <a:solidFill>
                <a:srgbClr val="922E94"/>
              </a:solidFill>
              <a:latin typeface="Bahnschrift Condensed" panose="020B0502040204020203" pitchFamily="34" charset="0"/>
            </a:endParaRPr>
          </a:p>
        </p:txBody>
      </p:sp>
      <p:sp>
        <p:nvSpPr>
          <p:cNvPr id="5" name="TextBox 4">
            <a:hlinkClick r:id="rId2"/>
          </p:cNvPr>
          <p:cNvSpPr txBox="1"/>
          <p:nvPr/>
        </p:nvSpPr>
        <p:spPr>
          <a:xfrm>
            <a:off x="4148533" y="5512158"/>
            <a:ext cx="2986362" cy="461665"/>
          </a:xfrm>
          <a:prstGeom prst="rect">
            <a:avLst/>
          </a:prstGeom>
          <a:noFill/>
        </p:spPr>
        <p:txBody>
          <a:bodyPr wrap="square" rtlCol="0">
            <a:spAutoFit/>
          </a:bodyPr>
          <a:lstStyle/>
          <a:p>
            <a:r>
              <a:rPr lang="en-IN" sz="2400" dirty="0">
                <a:hlinkClick r:id="rId2"/>
              </a:rPr>
              <a:t>http://127.0.0.1:5002/</a:t>
            </a:r>
            <a:endParaRPr lang="en-IN" sz="24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054" y="2034388"/>
            <a:ext cx="4094646" cy="2949736"/>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9652" y="2034389"/>
            <a:ext cx="5643279" cy="1940496"/>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
        <p:nvSpPr>
          <p:cNvPr id="10" name="Right Arrow 9"/>
          <p:cNvSpPr/>
          <p:nvPr/>
        </p:nvSpPr>
        <p:spPr>
          <a:xfrm>
            <a:off x="5009883" y="3004636"/>
            <a:ext cx="631065" cy="2794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740333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082040" y="3247052"/>
            <a:ext cx="10058400" cy="890716"/>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IN"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553792" y="1738648"/>
            <a:ext cx="11243255" cy="4224269"/>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base">
              <a:lnSpc>
                <a:spcPct val="150000"/>
              </a:lnSpc>
              <a:buFont typeface="Wingdings" panose="05000000000000000000" pitchFamily="2" charset="2"/>
              <a:buChar char="q"/>
            </a:pPr>
            <a:r>
              <a:rPr lang="en-US" sz="2400" dirty="0" smtClean="0">
                <a:latin typeface="Bahnschrift SemiLight SemiConde" panose="020B0502040204020203" pitchFamily="34" charset="0"/>
                <a:cs typeface="Times New Roman" panose="02020603050405020304" pitchFamily="18" charset="0"/>
              </a:rPr>
              <a:t> Identification </a:t>
            </a:r>
            <a:r>
              <a:rPr lang="en-US" sz="2400" dirty="0">
                <a:latin typeface="Bahnschrift SemiLight SemiConde" panose="020B0502040204020203" pitchFamily="34" charset="0"/>
                <a:cs typeface="Times New Roman" panose="02020603050405020304" pitchFamily="18" charset="0"/>
              </a:rPr>
              <a:t>of depression is desirable, so that it can be controlled by giving better  </a:t>
            </a:r>
            <a:r>
              <a:rPr lang="en-US" sz="2400" dirty="0" smtClean="0">
                <a:latin typeface="Bahnschrift SemiLight SemiConde" panose="020B0502040204020203" pitchFamily="34" charset="0"/>
                <a:cs typeface="Times New Roman" panose="02020603050405020304" pitchFamily="18" charset="0"/>
              </a:rPr>
              <a:t>  counseling </a:t>
            </a:r>
            <a:r>
              <a:rPr lang="en-US" sz="2400" dirty="0">
                <a:latin typeface="Bahnschrift SemiLight SemiConde" panose="020B0502040204020203" pitchFamily="34" charset="0"/>
                <a:cs typeface="Times New Roman" panose="02020603050405020304" pitchFamily="18" charset="0"/>
              </a:rPr>
              <a:t>at the starting stage itself</a:t>
            </a:r>
            <a:r>
              <a:rPr lang="en-US" sz="2400" dirty="0" smtClean="0">
                <a:latin typeface="Bahnschrift SemiLight SemiConde" panose="020B0502040204020203" pitchFamily="34" charset="0"/>
                <a:cs typeface="Times New Roman" panose="02020603050405020304" pitchFamily="18" charset="0"/>
              </a:rPr>
              <a:t>.</a:t>
            </a:r>
            <a:endParaRPr lang="en-IN" sz="2400" dirty="0">
              <a:latin typeface="Bahnschrift SemiLight SemiConde" panose="020B0502040204020203" pitchFamily="34" charset="0"/>
              <a:cs typeface="Times New Roman" panose="02020603050405020304" pitchFamily="18" charset="0"/>
            </a:endParaRPr>
          </a:p>
          <a:p>
            <a:pPr fontAlgn="base">
              <a:lnSpc>
                <a:spcPct val="150000"/>
              </a:lnSpc>
              <a:buFont typeface="Wingdings" panose="05000000000000000000" pitchFamily="2" charset="2"/>
              <a:buChar char="q"/>
            </a:pPr>
            <a:r>
              <a:rPr lang="en-US" sz="2400" dirty="0" smtClean="0">
                <a:latin typeface="Bahnschrift SemiLight SemiConde" panose="020B0502040204020203" pitchFamily="34" charset="0"/>
                <a:cs typeface="Times New Roman" panose="02020603050405020304" pitchFamily="18" charset="0"/>
              </a:rPr>
              <a:t> In </a:t>
            </a:r>
            <a:r>
              <a:rPr lang="en-US" sz="2400" dirty="0">
                <a:latin typeface="Bahnschrift SemiLight SemiConde" panose="020B0502040204020203" pitchFamily="34" charset="0"/>
                <a:cs typeface="Times New Roman" panose="02020603050405020304" pitchFamily="18" charset="0"/>
              </a:rPr>
              <a:t>the future, we will be able to use more models to do analysis of tweets and more social media outlets to determine various mental health issues other than depression such as stress and anxiety</a:t>
            </a:r>
            <a:r>
              <a:rPr lang="en-US" sz="2400" dirty="0" smtClean="0"/>
              <a:t>.</a:t>
            </a:r>
          </a:p>
          <a:p>
            <a:pPr marL="0" indent="0" fontAlgn="base">
              <a:lnSpc>
                <a:spcPct val="100000"/>
              </a:lnSpc>
              <a:buNone/>
            </a:pPr>
            <a:endParaRPr lang="en-US" sz="2400" dirty="0">
              <a:latin typeface="Bahnschrift SemiLight SemiConde" panose="020B0502040204020203" pitchFamily="34" charset="0"/>
              <a:cs typeface="Times New Roman" panose="02020603050405020304" pitchFamily="18" charset="0"/>
            </a:endParaRPr>
          </a:p>
        </p:txBody>
      </p:sp>
      <p:sp>
        <p:nvSpPr>
          <p:cNvPr id="7" name="Title 1"/>
          <p:cNvSpPr txBox="1">
            <a:spLocks/>
          </p:cNvSpPr>
          <p:nvPr/>
        </p:nvSpPr>
        <p:spPr>
          <a:xfrm>
            <a:off x="2640598" y="895444"/>
            <a:ext cx="5498849" cy="668127"/>
          </a:xfrm>
          <a:prstGeom prst="rect">
            <a:avLst/>
          </a:prstGeom>
        </p:spPr>
        <p:txBody>
          <a:bodyPr vert="horz" lIns="91440" tIns="45720" rIns="91440" bIns="45720" rtlCol="0" anchor="b">
            <a:no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 sz="5400" dirty="0" smtClean="0">
                <a:solidFill>
                  <a:schemeClr val="accent1"/>
                </a:solidFill>
                <a:latin typeface="Bahnschrift SemiBold Condensed" panose="020B0502040204020203" pitchFamily="34" charset="0"/>
                <a:cs typeface="Times New Roman" panose="02020603050405020304" pitchFamily="18" charset="0"/>
              </a:rPr>
              <a:t>Future scope</a:t>
            </a:r>
            <a:endParaRPr lang="en-IN" sz="5400" dirty="0">
              <a:solidFill>
                <a:schemeClr val="accent1"/>
              </a:solidFill>
              <a:latin typeface="Bahnschrift SemiBold Condensed"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31926671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3199" y="2318197"/>
            <a:ext cx="6114889" cy="925991"/>
          </a:xfrm>
        </p:spPr>
        <p:txBody>
          <a:bodyPr>
            <a:noAutofit/>
          </a:bodyPr>
          <a:lstStyle/>
          <a:p>
            <a:r>
              <a:rPr lang="en-IN" sz="9600" b="1" dirty="0" smtClean="0">
                <a:latin typeface="Times New Roman" panose="02020603050405020304" pitchFamily="18" charset="0"/>
                <a:cs typeface="Times New Roman" panose="02020603050405020304" pitchFamily="18" charset="0"/>
              </a:rPr>
              <a:t>Thank You</a:t>
            </a:r>
            <a:endParaRPr lang="en-IN" sz="96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249251" y="444517"/>
            <a:ext cx="10076576" cy="529153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1375521441"/>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1816</TotalTime>
  <Words>300</Words>
  <Application>Microsoft Office PowerPoint</Application>
  <PresentationFormat>Widescreen</PresentationFormat>
  <Paragraphs>47</Paragraphs>
  <Slides>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Algerian</vt:lpstr>
      <vt:lpstr>Arial</vt:lpstr>
      <vt:lpstr>Bahnschrift Condensed</vt:lpstr>
      <vt:lpstr>Bahnschrift SemiBold Condensed</vt:lpstr>
      <vt:lpstr>Bahnschrift SemiLight SemiConde</vt:lpstr>
      <vt:lpstr>Calibri</vt:lpstr>
      <vt:lpstr>Calibri Light</vt:lpstr>
      <vt:lpstr>Mangal</vt:lpstr>
      <vt:lpstr>Times New Roman</vt:lpstr>
      <vt:lpstr>Wingdings</vt:lpstr>
      <vt:lpstr>Retrospect</vt:lpstr>
      <vt:lpstr>PowerPoint Presentation</vt:lpstr>
      <vt:lpstr> Problem Statement</vt:lpstr>
      <vt:lpstr>Solution</vt:lpstr>
      <vt:lpstr>Working Methodology</vt:lpstr>
      <vt:lpstr>Results</vt:lpstr>
      <vt:lpstr>Confusion Matrix</vt:lpstr>
      <vt:lpstr>Sentiment Analysis Webpage</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 ANALYSIS FOR DEPRESSION USING ML AND DNN</dc:title>
  <dc:creator>Microsoft account</dc:creator>
  <cp:lastModifiedBy>NIVI</cp:lastModifiedBy>
  <cp:revision>81</cp:revision>
  <dcterms:created xsi:type="dcterms:W3CDTF">2022-07-16T13:51:29Z</dcterms:created>
  <dcterms:modified xsi:type="dcterms:W3CDTF">2022-10-01T06:26:59Z</dcterms:modified>
</cp:coreProperties>
</file>